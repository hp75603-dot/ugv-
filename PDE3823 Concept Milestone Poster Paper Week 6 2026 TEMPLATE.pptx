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10691813" cy="15119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/>
    <p:restoredTop sz="94694"/>
  </p:normalViewPr>
  <p:slideViewPr>
    <p:cSldViewPr snapToGrid="0">
      <p:cViewPr>
        <p:scale>
          <a:sx n="66" d="100"/>
          <a:sy n="66" d="100"/>
        </p:scale>
        <p:origin x="26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2474395"/>
            <a:ext cx="9088041" cy="5263774"/>
          </a:xfrm>
        </p:spPr>
        <p:txBody>
          <a:bodyPr anchor="b"/>
          <a:lstStyle>
            <a:lvl1pPr algn="ctr">
              <a:defRPr sz="701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7941160"/>
            <a:ext cx="8018860" cy="3650342"/>
          </a:xfrm>
        </p:spPr>
        <p:txBody>
          <a:bodyPr/>
          <a:lstStyle>
            <a:lvl1pPr marL="0" indent="0" algn="ctr">
              <a:buNone/>
              <a:defRPr sz="2806"/>
            </a:lvl1pPr>
            <a:lvl2pPr marL="534604" indent="0" algn="ctr">
              <a:buNone/>
              <a:defRPr sz="2339"/>
            </a:lvl2pPr>
            <a:lvl3pPr marL="1069208" indent="0" algn="ctr">
              <a:buNone/>
              <a:defRPr sz="2105"/>
            </a:lvl3pPr>
            <a:lvl4pPr marL="1603812" indent="0" algn="ctr">
              <a:buNone/>
              <a:defRPr sz="1871"/>
            </a:lvl4pPr>
            <a:lvl5pPr marL="2138416" indent="0" algn="ctr">
              <a:buNone/>
              <a:defRPr sz="1871"/>
            </a:lvl5pPr>
            <a:lvl6pPr marL="2673020" indent="0" algn="ctr">
              <a:buNone/>
              <a:defRPr sz="1871"/>
            </a:lvl6pPr>
            <a:lvl7pPr marL="3207624" indent="0" algn="ctr">
              <a:buNone/>
              <a:defRPr sz="1871"/>
            </a:lvl7pPr>
            <a:lvl8pPr marL="3742228" indent="0" algn="ctr">
              <a:buNone/>
              <a:defRPr sz="1871"/>
            </a:lvl8pPr>
            <a:lvl9pPr marL="4276832" indent="0" algn="ctr">
              <a:buNone/>
              <a:defRPr sz="1871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6EA6C-6082-D74C-BB0B-13BF83C7DEB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98202-9DB7-394C-AA64-C7B4B3E48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60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6EA6C-6082-D74C-BB0B-13BF83C7DEB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98202-9DB7-394C-AA64-C7B4B3E48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69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3769342"/>
            <a:ext cx="9221689" cy="6289229"/>
          </a:xfrm>
        </p:spPr>
        <p:txBody>
          <a:bodyPr anchor="b"/>
          <a:lstStyle>
            <a:lvl1pPr>
              <a:defRPr sz="7016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10118069"/>
            <a:ext cx="9221689" cy="3307357"/>
          </a:xfrm>
        </p:spPr>
        <p:txBody>
          <a:bodyPr/>
          <a:lstStyle>
            <a:lvl1pPr marL="0" indent="0">
              <a:buNone/>
              <a:defRPr sz="2806">
                <a:solidFill>
                  <a:schemeClr val="tx1">
                    <a:tint val="82000"/>
                  </a:schemeClr>
                </a:solidFill>
              </a:defRPr>
            </a:lvl1pPr>
            <a:lvl2pPr marL="534604" indent="0">
              <a:buNone/>
              <a:defRPr sz="2339">
                <a:solidFill>
                  <a:schemeClr val="tx1">
                    <a:tint val="82000"/>
                  </a:schemeClr>
                </a:solidFill>
              </a:defRPr>
            </a:lvl2pPr>
            <a:lvl3pPr marL="1069208" indent="0">
              <a:buNone/>
              <a:defRPr sz="2105">
                <a:solidFill>
                  <a:schemeClr val="tx1">
                    <a:tint val="82000"/>
                  </a:schemeClr>
                </a:solidFill>
              </a:defRPr>
            </a:lvl3pPr>
            <a:lvl4pPr marL="1603812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4pPr>
            <a:lvl5pPr marL="2138416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5pPr>
            <a:lvl6pPr marL="2673020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6pPr>
            <a:lvl7pPr marL="3207624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7pPr>
            <a:lvl8pPr marL="3742228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8pPr>
            <a:lvl9pPr marL="4276832" indent="0">
              <a:buNone/>
              <a:defRPr sz="187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6EA6C-6082-D74C-BB0B-13BF83C7DEB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98202-9DB7-394C-AA64-C7B4B3E48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93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4024827"/>
            <a:ext cx="4544021" cy="959308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4024827"/>
            <a:ext cx="4544021" cy="959308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6EA6C-6082-D74C-BB0B-13BF83C7DEB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98202-9DB7-394C-AA64-C7B4B3E48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120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804969"/>
            <a:ext cx="9221689" cy="29223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3706342"/>
            <a:ext cx="4523137" cy="1816421"/>
          </a:xfrm>
        </p:spPr>
        <p:txBody>
          <a:bodyPr anchor="b"/>
          <a:lstStyle>
            <a:lvl1pPr marL="0" indent="0">
              <a:buNone/>
              <a:defRPr sz="2806" b="1"/>
            </a:lvl1pPr>
            <a:lvl2pPr marL="534604" indent="0">
              <a:buNone/>
              <a:defRPr sz="2339" b="1"/>
            </a:lvl2pPr>
            <a:lvl3pPr marL="1069208" indent="0">
              <a:buNone/>
              <a:defRPr sz="2105" b="1"/>
            </a:lvl3pPr>
            <a:lvl4pPr marL="1603812" indent="0">
              <a:buNone/>
              <a:defRPr sz="1871" b="1"/>
            </a:lvl4pPr>
            <a:lvl5pPr marL="2138416" indent="0">
              <a:buNone/>
              <a:defRPr sz="1871" b="1"/>
            </a:lvl5pPr>
            <a:lvl6pPr marL="2673020" indent="0">
              <a:buNone/>
              <a:defRPr sz="1871" b="1"/>
            </a:lvl6pPr>
            <a:lvl7pPr marL="3207624" indent="0">
              <a:buNone/>
              <a:defRPr sz="1871" b="1"/>
            </a:lvl7pPr>
            <a:lvl8pPr marL="3742228" indent="0">
              <a:buNone/>
              <a:defRPr sz="1871" b="1"/>
            </a:lvl8pPr>
            <a:lvl9pPr marL="4276832" indent="0">
              <a:buNone/>
              <a:defRPr sz="187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5522763"/>
            <a:ext cx="4523137" cy="81231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3706342"/>
            <a:ext cx="4545413" cy="1816421"/>
          </a:xfrm>
        </p:spPr>
        <p:txBody>
          <a:bodyPr anchor="b"/>
          <a:lstStyle>
            <a:lvl1pPr marL="0" indent="0">
              <a:buNone/>
              <a:defRPr sz="2806" b="1"/>
            </a:lvl1pPr>
            <a:lvl2pPr marL="534604" indent="0">
              <a:buNone/>
              <a:defRPr sz="2339" b="1"/>
            </a:lvl2pPr>
            <a:lvl3pPr marL="1069208" indent="0">
              <a:buNone/>
              <a:defRPr sz="2105" b="1"/>
            </a:lvl3pPr>
            <a:lvl4pPr marL="1603812" indent="0">
              <a:buNone/>
              <a:defRPr sz="1871" b="1"/>
            </a:lvl4pPr>
            <a:lvl5pPr marL="2138416" indent="0">
              <a:buNone/>
              <a:defRPr sz="1871" b="1"/>
            </a:lvl5pPr>
            <a:lvl6pPr marL="2673020" indent="0">
              <a:buNone/>
              <a:defRPr sz="1871" b="1"/>
            </a:lvl6pPr>
            <a:lvl7pPr marL="3207624" indent="0">
              <a:buNone/>
              <a:defRPr sz="1871" b="1"/>
            </a:lvl7pPr>
            <a:lvl8pPr marL="3742228" indent="0">
              <a:buNone/>
              <a:defRPr sz="1871" b="1"/>
            </a:lvl8pPr>
            <a:lvl9pPr marL="4276832" indent="0">
              <a:buNone/>
              <a:defRPr sz="1871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5522763"/>
            <a:ext cx="4545413" cy="81231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6EA6C-6082-D74C-BB0B-13BF83C7DEB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98202-9DB7-394C-AA64-C7B4B3E48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840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6EA6C-6082-D74C-BB0B-13BF83C7DEB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98202-9DB7-394C-AA64-C7B4B3E48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318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6EA6C-6082-D74C-BB0B-13BF83C7DEB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98202-9DB7-394C-AA64-C7B4B3E48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243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1007957"/>
            <a:ext cx="3448388" cy="3527848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2176910"/>
            <a:ext cx="5412730" cy="10744538"/>
          </a:xfrm>
        </p:spPr>
        <p:txBody>
          <a:bodyPr/>
          <a:lstStyle>
            <a:lvl1pPr>
              <a:defRPr sz="3742"/>
            </a:lvl1pPr>
            <a:lvl2pPr>
              <a:defRPr sz="3274"/>
            </a:lvl2pPr>
            <a:lvl3pPr>
              <a:defRPr sz="2806"/>
            </a:lvl3pPr>
            <a:lvl4pPr>
              <a:defRPr sz="2339"/>
            </a:lvl4pPr>
            <a:lvl5pPr>
              <a:defRPr sz="2339"/>
            </a:lvl5pPr>
            <a:lvl6pPr>
              <a:defRPr sz="2339"/>
            </a:lvl6pPr>
            <a:lvl7pPr>
              <a:defRPr sz="2339"/>
            </a:lvl7pPr>
            <a:lvl8pPr>
              <a:defRPr sz="2339"/>
            </a:lvl8pPr>
            <a:lvl9pPr>
              <a:defRPr sz="2339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4535805"/>
            <a:ext cx="3448388" cy="8403140"/>
          </a:xfrm>
        </p:spPr>
        <p:txBody>
          <a:bodyPr/>
          <a:lstStyle>
            <a:lvl1pPr marL="0" indent="0">
              <a:buNone/>
              <a:defRPr sz="1871"/>
            </a:lvl1pPr>
            <a:lvl2pPr marL="534604" indent="0">
              <a:buNone/>
              <a:defRPr sz="1637"/>
            </a:lvl2pPr>
            <a:lvl3pPr marL="1069208" indent="0">
              <a:buNone/>
              <a:defRPr sz="1403"/>
            </a:lvl3pPr>
            <a:lvl4pPr marL="1603812" indent="0">
              <a:buNone/>
              <a:defRPr sz="1169"/>
            </a:lvl4pPr>
            <a:lvl5pPr marL="2138416" indent="0">
              <a:buNone/>
              <a:defRPr sz="1169"/>
            </a:lvl5pPr>
            <a:lvl6pPr marL="2673020" indent="0">
              <a:buNone/>
              <a:defRPr sz="1169"/>
            </a:lvl6pPr>
            <a:lvl7pPr marL="3207624" indent="0">
              <a:buNone/>
              <a:defRPr sz="1169"/>
            </a:lvl7pPr>
            <a:lvl8pPr marL="3742228" indent="0">
              <a:buNone/>
              <a:defRPr sz="1169"/>
            </a:lvl8pPr>
            <a:lvl9pPr marL="4276832" indent="0">
              <a:buNone/>
              <a:defRPr sz="116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6EA6C-6082-D74C-BB0B-13BF83C7DEB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98202-9DB7-394C-AA64-C7B4B3E48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46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1007957"/>
            <a:ext cx="3448388" cy="3527848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2176910"/>
            <a:ext cx="5412730" cy="10744538"/>
          </a:xfrm>
        </p:spPr>
        <p:txBody>
          <a:bodyPr anchor="t"/>
          <a:lstStyle>
            <a:lvl1pPr marL="0" indent="0">
              <a:buNone/>
              <a:defRPr sz="3742"/>
            </a:lvl1pPr>
            <a:lvl2pPr marL="534604" indent="0">
              <a:buNone/>
              <a:defRPr sz="3274"/>
            </a:lvl2pPr>
            <a:lvl3pPr marL="1069208" indent="0">
              <a:buNone/>
              <a:defRPr sz="2806"/>
            </a:lvl3pPr>
            <a:lvl4pPr marL="1603812" indent="0">
              <a:buNone/>
              <a:defRPr sz="2339"/>
            </a:lvl4pPr>
            <a:lvl5pPr marL="2138416" indent="0">
              <a:buNone/>
              <a:defRPr sz="2339"/>
            </a:lvl5pPr>
            <a:lvl6pPr marL="2673020" indent="0">
              <a:buNone/>
              <a:defRPr sz="2339"/>
            </a:lvl6pPr>
            <a:lvl7pPr marL="3207624" indent="0">
              <a:buNone/>
              <a:defRPr sz="2339"/>
            </a:lvl7pPr>
            <a:lvl8pPr marL="3742228" indent="0">
              <a:buNone/>
              <a:defRPr sz="2339"/>
            </a:lvl8pPr>
            <a:lvl9pPr marL="4276832" indent="0">
              <a:buNone/>
              <a:defRPr sz="2339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4535805"/>
            <a:ext cx="3448388" cy="8403140"/>
          </a:xfrm>
        </p:spPr>
        <p:txBody>
          <a:bodyPr/>
          <a:lstStyle>
            <a:lvl1pPr marL="0" indent="0">
              <a:buNone/>
              <a:defRPr sz="1871"/>
            </a:lvl1pPr>
            <a:lvl2pPr marL="534604" indent="0">
              <a:buNone/>
              <a:defRPr sz="1637"/>
            </a:lvl2pPr>
            <a:lvl3pPr marL="1069208" indent="0">
              <a:buNone/>
              <a:defRPr sz="1403"/>
            </a:lvl3pPr>
            <a:lvl4pPr marL="1603812" indent="0">
              <a:buNone/>
              <a:defRPr sz="1169"/>
            </a:lvl4pPr>
            <a:lvl5pPr marL="2138416" indent="0">
              <a:buNone/>
              <a:defRPr sz="1169"/>
            </a:lvl5pPr>
            <a:lvl6pPr marL="2673020" indent="0">
              <a:buNone/>
              <a:defRPr sz="1169"/>
            </a:lvl6pPr>
            <a:lvl7pPr marL="3207624" indent="0">
              <a:buNone/>
              <a:defRPr sz="1169"/>
            </a:lvl7pPr>
            <a:lvl8pPr marL="3742228" indent="0">
              <a:buNone/>
              <a:defRPr sz="1169"/>
            </a:lvl8pPr>
            <a:lvl9pPr marL="4276832" indent="0">
              <a:buNone/>
              <a:defRPr sz="116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6EA6C-6082-D74C-BB0B-13BF83C7DEB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98202-9DB7-394C-AA64-C7B4B3E48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405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6EA6C-6082-D74C-BB0B-13BF83C7DEB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98202-9DB7-394C-AA64-C7B4B3E48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453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804966"/>
            <a:ext cx="2305422" cy="1281295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804966"/>
            <a:ext cx="6782619" cy="128129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6EA6C-6082-D74C-BB0B-13BF83C7DEB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98202-9DB7-394C-AA64-C7B4B3E48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90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804969"/>
            <a:ext cx="9221689" cy="2922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4024827"/>
            <a:ext cx="9221689" cy="9593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14013401"/>
            <a:ext cx="2405658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A6EA6C-6082-D74C-BB0B-13BF83C7DEB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14013401"/>
            <a:ext cx="3608487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14013401"/>
            <a:ext cx="2405658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198202-9DB7-394C-AA64-C7B4B3E48D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746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69208" rtl="0" eaLnBrk="1" latinLnBrk="0" hangingPunct="1">
        <a:lnSpc>
          <a:spcPct val="90000"/>
        </a:lnSpc>
        <a:spcBef>
          <a:spcPct val="0"/>
        </a:spcBef>
        <a:buNone/>
        <a:defRPr sz="51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7302" indent="-267302" algn="l" defTabSz="1069208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3274" kern="1200">
          <a:solidFill>
            <a:schemeClr val="tx1"/>
          </a:solidFill>
          <a:latin typeface="+mn-lt"/>
          <a:ea typeface="+mn-ea"/>
          <a:cs typeface="+mn-cs"/>
        </a:defRPr>
      </a:lvl1pPr>
      <a:lvl2pPr marL="801906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336510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3pPr>
      <a:lvl4pPr marL="1871114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405718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940322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474926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4009530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544134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1pPr>
      <a:lvl2pPr marL="534604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69208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03812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138416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673020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207624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3742228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276832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app.roboflow.com/room-qsnrv/kitti-low-light-tvbas/1/export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B933C-1F83-D21A-FCA3-542B575BE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2ADA07-F624-8556-5410-68A8407F7E96}"/>
              </a:ext>
            </a:extLst>
          </p:cNvPr>
          <p:cNvSpPr txBox="1"/>
          <p:nvPr/>
        </p:nvSpPr>
        <p:spPr>
          <a:xfrm>
            <a:off x="310633" y="2262014"/>
            <a:ext cx="3720173" cy="3718552"/>
          </a:xfrm>
          <a:prstGeom prst="rect">
            <a:avLst/>
          </a:prstGeom>
          <a:noFill/>
          <a:ln w="19050" cap="sq">
            <a:noFill/>
            <a:miter lim="800000"/>
          </a:ln>
        </p:spPr>
        <p:txBody>
          <a:bodyPr wrap="square" anchor="ctr">
            <a:no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/>
              <a:t>• Real-time human detection</a:t>
            </a:r>
            <a:br>
              <a:rPr lang="en-US" sz="1600" dirty="0"/>
            </a:br>
            <a:r>
              <a:rPr lang="en-US" sz="1600" dirty="0"/>
              <a:t>• Operation in low-light/night conditions</a:t>
            </a:r>
            <a:br>
              <a:rPr lang="en-US" sz="1600" dirty="0"/>
            </a:br>
            <a:r>
              <a:rPr lang="en-US" sz="1600" dirty="0"/>
              <a:t>• Sensor fusion (Camera + Radar)</a:t>
            </a:r>
            <a:br>
              <a:rPr lang="en-US" sz="1600" dirty="0"/>
            </a:br>
            <a:r>
              <a:rPr lang="en-US" sz="1600" dirty="0"/>
              <a:t>• Autonomous UGV mobility</a:t>
            </a:r>
            <a:br>
              <a:rPr lang="en-US" sz="1600" dirty="0"/>
            </a:br>
            <a:r>
              <a:rPr lang="en-US" sz="1600" dirty="0"/>
              <a:t>• High detection accuracy &amp; low false alarms</a:t>
            </a:r>
            <a:br>
              <a:rPr lang="en-US" sz="1600" dirty="0"/>
            </a:br>
            <a:r>
              <a:rPr lang="en-US" sz="1600" dirty="0"/>
              <a:t>• Deployable for security and rescue applications</a:t>
            </a:r>
            <a:endParaRPr lang="en-GB" sz="1400" dirty="0">
              <a:solidFill>
                <a:srgbClr val="00000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239EF7-2438-040E-883D-74B58E8C0C54}"/>
              </a:ext>
            </a:extLst>
          </p:cNvPr>
          <p:cNvSpPr/>
          <p:nvPr/>
        </p:nvSpPr>
        <p:spPr>
          <a:xfrm>
            <a:off x="5172636" y="1681408"/>
            <a:ext cx="5129087" cy="3987747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77927" tIns="177927" rIns="177927" bIns="177927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1751511">
              <a:spcAft>
                <a:spcPts val="899"/>
              </a:spcAft>
              <a:defRPr/>
            </a:pPr>
            <a:endParaRPr lang="en-GB" sz="2996" b="1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C22A77-A649-DD43-17EC-B9C34EF09FD1}"/>
              </a:ext>
            </a:extLst>
          </p:cNvPr>
          <p:cNvSpPr txBox="1"/>
          <p:nvPr/>
        </p:nvSpPr>
        <p:spPr>
          <a:xfrm>
            <a:off x="374205" y="245870"/>
            <a:ext cx="14025296" cy="1571076"/>
          </a:xfrm>
          <a:prstGeom prst="rect">
            <a:avLst/>
          </a:prstGeom>
          <a:noFill/>
          <a:ln w="19050" cap="sq">
            <a:noFill/>
            <a:miter lim="800000"/>
          </a:ln>
        </p:spPr>
        <p:txBody>
          <a:bodyPr wrap="square" lIns="0" tIns="0" rIns="0" bIns="0" rtlCol="0" anchor="t" anchorCtr="0">
            <a:normAutofit/>
          </a:bodyPr>
          <a:lstStyle/>
          <a:p>
            <a:pPr defTabSz="1751511"/>
            <a:r>
              <a:rPr lang="en-GB" sz="4495" b="1" dirty="0">
                <a:solidFill>
                  <a:srgbClr val="000000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Unmanned Ground Vehicle </a:t>
            </a:r>
          </a:p>
          <a:p>
            <a:pPr defTabSz="1751511"/>
            <a:r>
              <a:rPr lang="en-US" sz="2800" dirty="0"/>
              <a:t>Redefining Human Detection with Radar-Assisted AI Technology</a:t>
            </a:r>
            <a:endParaRPr lang="en-GB" sz="2800" b="1" dirty="0">
              <a:solidFill>
                <a:srgbClr val="000000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defTabSz="1751511"/>
            <a:endParaRPr lang="en-GB" sz="4495" i="1" dirty="0">
              <a:solidFill>
                <a:srgbClr val="FFFFFF">
                  <a:lumMod val="50000"/>
                </a:srgbClr>
              </a:solidFill>
              <a:latin typeface="Franklin Gothic Medium" panose="020B0603020102020204" pitchFamily="34" charset="0"/>
              <a:ea typeface="Verdana" panose="020B060403050404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4D38D5-2BE1-87FC-6684-11F2237FF03D}"/>
              </a:ext>
            </a:extLst>
          </p:cNvPr>
          <p:cNvSpPr txBox="1"/>
          <p:nvPr/>
        </p:nvSpPr>
        <p:spPr>
          <a:xfrm>
            <a:off x="336012" y="1628762"/>
            <a:ext cx="10045168" cy="633322"/>
          </a:xfrm>
          <a:prstGeom prst="rect">
            <a:avLst/>
          </a:prstGeom>
          <a:noFill/>
          <a:ln w="19050" cap="sq">
            <a:noFill/>
            <a:miter lim="800000"/>
          </a:ln>
        </p:spPr>
        <p:txBody>
          <a:bodyPr wrap="square" lIns="0" tIns="0" rIns="0" bIns="0" rtlCol="0" anchor="t" anchorCtr="0">
            <a:normAutofit/>
          </a:bodyPr>
          <a:lstStyle/>
          <a:p>
            <a:pPr defTabSz="1751511"/>
            <a:r>
              <a:rPr lang="en-GB" altLang="en-US" sz="4100" i="1" dirty="0">
                <a:solidFill>
                  <a:srgbClr val="FFFFFF">
                    <a:lumMod val="50000"/>
                  </a:srgbClr>
                </a:solidFill>
                <a:latin typeface="Franklin Gothic Medium" panose="020B0603020102020204" pitchFamily="34" charset="0"/>
                <a:cs typeface="Segoe UI Semilight" panose="020B0402040204020203" pitchFamily="34" charset="0"/>
              </a:rPr>
              <a:t>Harsh Patel</a:t>
            </a:r>
            <a:endParaRPr lang="en-US" altLang="en-US" sz="41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defTabSz="1751511"/>
            <a:endParaRPr lang="en-GB" sz="2996" i="1" dirty="0">
              <a:solidFill>
                <a:srgbClr val="FFFFFF">
                  <a:lumMod val="50000"/>
                </a:srgbClr>
              </a:solidFill>
              <a:latin typeface="Franklin Gothic Medium" panose="020B060302010202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CAA216-F302-2613-E3D1-6F5B1EEF37CB}"/>
              </a:ext>
            </a:extLst>
          </p:cNvPr>
          <p:cNvSpPr/>
          <p:nvPr/>
        </p:nvSpPr>
        <p:spPr>
          <a:xfrm>
            <a:off x="5575167" y="7527408"/>
            <a:ext cx="4806013" cy="5742417"/>
          </a:xfrm>
          <a:prstGeom prst="rect">
            <a:avLst/>
          </a:prstGeom>
          <a:noFill/>
          <a:ln w="190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77927" tIns="177927" rIns="177927" bIns="177927" numCol="1" spcCol="0" rtlCol="0" fromWordArt="0" anchor="t" anchorCtr="0" forceAA="0" compatLnSpc="1">
            <a:prstTxWarp prst="textNoShape">
              <a:avLst/>
            </a:prstTxWarp>
            <a:normAutofit fontScale="92500" lnSpcReduction="10000"/>
          </a:bodyPr>
          <a:lstStyle/>
          <a:p>
            <a:r>
              <a:rPr lang="en-US" sz="1700" dirty="0"/>
              <a:t>Human detection in low-light conditions presents significant challenges for conventional camera-based systems due to poor illumination and high computational demand. This project proposes a two-prototype Unmanned Ground Vehicle (UGV) architecture focused on energy efficiency and detection reliability.</a:t>
            </a:r>
          </a:p>
          <a:p>
            <a:r>
              <a:rPr lang="en-US" sz="1700" b="1" dirty="0"/>
              <a:t>Prototype 1 </a:t>
            </a:r>
            <a:r>
              <a:rPr lang="en-US" sz="1700" dirty="0"/>
              <a:t>utilizes a </a:t>
            </a:r>
            <a:r>
              <a:rPr lang="en-US" sz="1700" dirty="0" err="1"/>
              <a:t>DreamHat</a:t>
            </a:r>
            <a:r>
              <a:rPr lang="en-US" sz="1700" dirty="0"/>
              <a:t> radar sensor for initial human presence detection based on motion and distance measurements. This approach reduces computational load and conserves battery power, enabling efficient continuous patrol.</a:t>
            </a:r>
          </a:p>
          <a:p>
            <a:r>
              <a:rPr lang="en-US" sz="1700" b="1" dirty="0"/>
              <a:t>Prototype 2</a:t>
            </a:r>
            <a:r>
              <a:rPr lang="en-US" sz="1700" dirty="0"/>
              <a:t> enhances the system by integrating a camera and YOLOv8 deep learning model. The radar acts as a trigger mechanism to activate vision-based detection only when necessary. This hybrid sensor-fusion strategy improves detection accuracy while optimizing power consumption.</a:t>
            </a:r>
          </a:p>
          <a:p>
            <a:r>
              <a:rPr lang="en-US" sz="1700" dirty="0"/>
              <a:t>The proposed system demonstrates an intelligent balance between performance and energy efficiency, making it suitable for surveillance, defense, and search-and-rescue applications in low-visibility environments.</a:t>
            </a:r>
          </a:p>
          <a:p>
            <a:pPr marL="403509" indent="-403509" defTabSz="1751511">
              <a:buFont typeface="Arial" panose="020B0604020202020204" pitchFamily="34" charset="0"/>
              <a:buChar char="•"/>
              <a:defRPr/>
            </a:pPr>
            <a:endParaRPr lang="en-GB" sz="1798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CA41E35-EFD5-952F-42FB-5F3D8DC0BEF8}"/>
              </a:ext>
            </a:extLst>
          </p:cNvPr>
          <p:cNvCxnSpPr>
            <a:cxnSpLocks/>
          </p:cNvCxnSpPr>
          <p:nvPr/>
        </p:nvCxnSpPr>
        <p:spPr>
          <a:xfrm>
            <a:off x="-1" y="1463884"/>
            <a:ext cx="10691813" cy="0"/>
          </a:xfrm>
          <a:prstGeom prst="line">
            <a:avLst/>
          </a:prstGeom>
          <a:noFill/>
          <a:ln w="88900" cap="flat" cmpd="sng" algn="ctr">
            <a:solidFill>
              <a:srgbClr val="000000"/>
            </a:solidFill>
            <a:prstDash val="solid"/>
            <a:miter lim="800000"/>
            <a:headEnd type="none" w="lg" len="med"/>
            <a:tailEnd type="none" w="lg" len="med"/>
          </a:ln>
          <a:effectLst/>
        </p:spPr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EF04F506-830A-281B-D84A-98D46CE54A16}"/>
              </a:ext>
            </a:extLst>
          </p:cNvPr>
          <p:cNvSpPr/>
          <p:nvPr/>
        </p:nvSpPr>
        <p:spPr>
          <a:xfrm>
            <a:off x="164755" y="14003005"/>
            <a:ext cx="1568144" cy="774387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9050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77927" tIns="177927" rIns="177927" bIns="177927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 defTabSz="1751511">
              <a:defRPr/>
            </a:pPr>
            <a:endParaRPr lang="en-GB" sz="1798" i="1" kern="0" dirty="0">
              <a:solidFill>
                <a:srgbClr val="3F3F3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B02298B-7F62-7D5C-A9AF-BE839AFFC274}"/>
              </a:ext>
            </a:extLst>
          </p:cNvPr>
          <p:cNvGrpSpPr/>
          <p:nvPr/>
        </p:nvGrpSpPr>
        <p:grpSpPr>
          <a:xfrm>
            <a:off x="2667163" y="13881618"/>
            <a:ext cx="5357485" cy="1249138"/>
            <a:chOff x="4655575" y="39220428"/>
            <a:chExt cx="6696074" cy="2501292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6B1C46E-E737-C0D5-704D-0250FF5AA984}"/>
                </a:ext>
              </a:extLst>
            </p:cNvPr>
            <p:cNvSpPr>
              <a:spLocks/>
            </p:cNvSpPr>
            <p:nvPr/>
          </p:nvSpPr>
          <p:spPr>
            <a:xfrm>
              <a:off x="4655575" y="39733724"/>
              <a:ext cx="6696074" cy="1987996"/>
            </a:xfrm>
            <a:prstGeom prst="rect">
              <a:avLst/>
            </a:prstGeom>
            <a:noFill/>
            <a:ln w="190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rmAutofit fontScale="85000" lnSpcReduction="20000"/>
            </a:bodyPr>
            <a:lstStyle/>
            <a:p>
              <a:pPr defTabSz="1751511">
                <a:defRPr/>
              </a:pPr>
              <a:r>
                <a:rPr lang="en-IN" dirty="0" err="1"/>
                <a:t>Roboflow</a:t>
              </a:r>
              <a:r>
                <a:rPr lang="en-IN" dirty="0"/>
                <a:t> (Dataset Preparation &amp; Export)</a:t>
              </a:r>
            </a:p>
            <a:p>
              <a:pPr defTabSz="1751511">
                <a:defRPr/>
              </a:pPr>
              <a:r>
                <a:rPr lang="en-GB" kern="0" dirty="0">
                  <a:solidFill>
                    <a:srgbClr val="7F7F7F"/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2"/>
                </a:rPr>
                <a:t>https://app.roboflow.com/room-qsnrv/kitti-low-light-tvbas/1/export</a:t>
              </a:r>
              <a:endParaRPr lang="en-GB" kern="0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1751511">
                <a:defRPr/>
              </a:pPr>
              <a:r>
                <a:rPr lang="en-IN" dirty="0"/>
                <a:t>Survey on UGV Navigation &amp; Detection</a:t>
              </a:r>
            </a:p>
            <a:p>
              <a:pPr defTabSz="1751511">
                <a:defRPr/>
              </a:pPr>
              <a:r>
                <a:rPr lang="en-IN"/>
                <a:t>https://www.mdpi.com/1424-8220/20/8/2286</a:t>
              </a:r>
              <a:endParaRPr lang="en-GB" kern="0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5DED0F9-7D04-A029-3B10-A56CAEEF2D72}"/>
                </a:ext>
              </a:extLst>
            </p:cNvPr>
            <p:cNvSpPr>
              <a:spLocks/>
            </p:cNvSpPr>
            <p:nvPr/>
          </p:nvSpPr>
          <p:spPr>
            <a:xfrm>
              <a:off x="4655575" y="39220428"/>
              <a:ext cx="6696074" cy="513295"/>
            </a:xfrm>
            <a:prstGeom prst="rect">
              <a:avLst/>
            </a:prstGeom>
            <a:noFill/>
            <a:ln w="19050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rmAutofit/>
            </a:bodyPr>
            <a:lstStyle/>
            <a:p>
              <a:pPr defTabSz="1751511">
                <a:defRPr/>
              </a:pPr>
              <a:r>
                <a:rPr lang="en-GB" sz="1398" kern="0">
                  <a:solidFill>
                    <a:srgbClr val="3F3F3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References</a:t>
              </a:r>
            </a:p>
          </p:txBody>
        </p:sp>
      </p:grp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5AE62E0-154B-07EF-72A8-CBEFEF24F081}"/>
              </a:ext>
            </a:extLst>
          </p:cNvPr>
          <p:cNvCxnSpPr>
            <a:cxnSpLocks/>
          </p:cNvCxnSpPr>
          <p:nvPr/>
        </p:nvCxnSpPr>
        <p:spPr>
          <a:xfrm>
            <a:off x="0" y="13781994"/>
            <a:ext cx="10691813" cy="0"/>
          </a:xfrm>
          <a:prstGeom prst="line">
            <a:avLst/>
          </a:prstGeom>
          <a:noFill/>
          <a:ln w="38100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  <a:headEnd type="none" w="lg" len="med"/>
            <a:tailEnd type="none" w="lg" len="med"/>
          </a:ln>
          <a:effectLst/>
        </p:spPr>
      </p:cxn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FCE4954-D4FC-ADF4-CD0F-87F848F07464}"/>
              </a:ext>
            </a:extLst>
          </p:cNvPr>
          <p:cNvGrpSpPr/>
          <p:nvPr/>
        </p:nvGrpSpPr>
        <p:grpSpPr>
          <a:xfrm>
            <a:off x="8307969" y="13766329"/>
            <a:ext cx="3328787" cy="1103074"/>
            <a:chOff x="8332787" y="23418800"/>
            <a:chExt cx="6665613" cy="2208811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17D2D58-3B1A-1097-FD4D-0934FF34216B}"/>
                </a:ext>
              </a:extLst>
            </p:cNvPr>
            <p:cNvSpPr txBox="1"/>
            <p:nvPr/>
          </p:nvSpPr>
          <p:spPr>
            <a:xfrm>
              <a:off x="8332787" y="23418800"/>
              <a:ext cx="6665613" cy="1133475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pPr defTabSz="1751511">
                <a:spcAft>
                  <a:spcPts val="599"/>
                </a:spcAft>
              </a:pPr>
              <a:r>
                <a:rPr lang="en-US" sz="1398" b="1" dirty="0">
                  <a:solidFill>
                    <a:srgbClr val="3F3F3F"/>
                  </a:solidFill>
                  <a:latin typeface="Franklin Gothic Medium" panose="020B0603020102020204" pitchFamily="34" charset="0"/>
                </a:rPr>
                <a:t>Harsh Patel</a:t>
              </a:r>
              <a:br>
                <a:rPr lang="en-US" sz="1398" b="1" dirty="0">
                  <a:solidFill>
                    <a:prstClr val="white"/>
                  </a:solidFill>
                  <a:latin typeface="Montserrat" panose="02000505000000020004" pitchFamily="2" charset="0"/>
                </a:rPr>
              </a:br>
              <a:r>
                <a:rPr lang="en-US" sz="1199" b="1" dirty="0">
                  <a:solidFill>
                    <a:srgbClr val="3F3F3F"/>
                  </a:solidFill>
                  <a:latin typeface="Franklin Gothic Medium" panose="020B0603020102020204" pitchFamily="34" charset="0"/>
                </a:rPr>
                <a:t>BE Electronic Engineering</a:t>
              </a:r>
              <a:endParaRPr lang="en-US" sz="1199" dirty="0">
                <a:solidFill>
                  <a:srgbClr val="3F3F3F"/>
                </a:solidFill>
                <a:latin typeface="Franklin Gothic Medium" panose="020B060302010202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DD2FA43-3D96-790C-001E-A024D161FAC5}"/>
                </a:ext>
              </a:extLst>
            </p:cNvPr>
            <p:cNvSpPr txBox="1"/>
            <p:nvPr/>
          </p:nvSpPr>
          <p:spPr>
            <a:xfrm>
              <a:off x="9065088" y="24387169"/>
              <a:ext cx="5933312" cy="675028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defTabSz="1751511">
                <a:spcAft>
                  <a:spcPts val="848"/>
                </a:spcAft>
              </a:pPr>
              <a:r>
                <a:rPr lang="en-US" sz="900" dirty="0">
                  <a:solidFill>
                    <a:srgbClr val="3F3F3F"/>
                  </a:solidFill>
                  <a:latin typeface="Franklin Gothic Medium" panose="020B0603020102020204" pitchFamily="34" charset="0"/>
                </a:rPr>
                <a:t>[hp520@live.mdx.ac.uk]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BB23DB6-0187-A806-E0C6-54C0D0018CD5}"/>
                </a:ext>
              </a:extLst>
            </p:cNvPr>
            <p:cNvSpPr txBox="1"/>
            <p:nvPr/>
          </p:nvSpPr>
          <p:spPr>
            <a:xfrm>
              <a:off x="9065088" y="24952583"/>
              <a:ext cx="5933312" cy="675028"/>
            </a:xfrm>
            <a:prstGeom prst="rect">
              <a:avLst/>
            </a:prstGeom>
            <a:noFill/>
          </p:spPr>
          <p:txBody>
            <a:bodyPr wrap="square" rtlCol="0" anchor="ctr">
              <a:normAutofit/>
            </a:bodyPr>
            <a:lstStyle/>
            <a:p>
              <a:pPr defTabSz="1751511">
                <a:spcAft>
                  <a:spcPts val="848"/>
                </a:spcAft>
              </a:pPr>
              <a:r>
                <a:rPr lang="en-US" sz="900">
                  <a:solidFill>
                    <a:srgbClr val="3F3F3F"/>
                  </a:solidFill>
                  <a:latin typeface="Franklin Gothic Medium" panose="020B0603020102020204" pitchFamily="34" charset="0"/>
                </a:rPr>
                <a:t>[Insert twitter username]</a:t>
              </a:r>
            </a:p>
          </p:txBody>
        </p:sp>
        <p:pic>
          <p:nvPicPr>
            <p:cNvPr id="65" name="Graphic 64" descr="Envelope outline">
              <a:extLst>
                <a:ext uri="{FF2B5EF4-FFF2-40B4-BE49-F238E27FC236}">
                  <a16:creationId xmlns:a16="http://schemas.microsoft.com/office/drawing/2014/main" id="{E71ED8DB-0E88-39CF-7972-F8FCFF9F8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435809" y="24482759"/>
              <a:ext cx="471633" cy="483849"/>
            </a:xfrm>
            <a:prstGeom prst="rect">
              <a:avLst/>
            </a:prstGeom>
          </p:spPr>
        </p:pic>
        <p:sp>
          <p:nvSpPr>
            <p:cNvPr id="66" name="Graphic 3">
              <a:extLst>
                <a:ext uri="{FF2B5EF4-FFF2-40B4-BE49-F238E27FC236}">
                  <a16:creationId xmlns:a16="http://schemas.microsoft.com/office/drawing/2014/main" id="{9863E181-0926-2397-D867-372E3FA30D66}"/>
                </a:ext>
              </a:extLst>
            </p:cNvPr>
            <p:cNvSpPr/>
            <p:nvPr/>
          </p:nvSpPr>
          <p:spPr>
            <a:xfrm>
              <a:off x="8436406" y="25099224"/>
              <a:ext cx="470449" cy="381746"/>
            </a:xfrm>
            <a:custGeom>
              <a:avLst/>
              <a:gdLst>
                <a:gd name="connsiteX0" fmla="*/ 469046 w 470449"/>
                <a:gd name="connsiteY0" fmla="*/ 53244 h 381747"/>
                <a:gd name="connsiteX1" fmla="*/ 424987 w 470449"/>
                <a:gd name="connsiteY1" fmla="*/ 62689 h 381747"/>
                <a:gd name="connsiteX2" fmla="*/ 467904 w 470449"/>
                <a:gd name="connsiteY2" fmla="*/ 25816 h 381747"/>
                <a:gd name="connsiteX3" fmla="*/ 406552 w 470449"/>
                <a:gd name="connsiteY3" fmla="*/ 38071 h 381747"/>
                <a:gd name="connsiteX4" fmla="*/ 212800 w 470449"/>
                <a:gd name="connsiteY4" fmla="*/ 132327 h 381747"/>
                <a:gd name="connsiteX5" fmla="*/ 100011 w 470449"/>
                <a:gd name="connsiteY5" fmla="*/ 89212 h 381747"/>
                <a:gd name="connsiteX6" fmla="*/ 53757 w 470449"/>
                <a:gd name="connsiteY6" fmla="*/ 54213 h 381747"/>
                <a:gd name="connsiteX7" fmla="*/ 129713 w 470449"/>
                <a:gd name="connsiteY7" fmla="*/ 208606 h 381747"/>
                <a:gd name="connsiteX8" fmla="*/ 72587 w 470449"/>
                <a:gd name="connsiteY8" fmla="*/ 198328 h 381747"/>
                <a:gd name="connsiteX9" fmla="*/ 160454 w 470449"/>
                <a:gd name="connsiteY9" fmla="*/ 288622 h 381747"/>
                <a:gd name="connsiteX10" fmla="*/ -1403 w 470449"/>
                <a:gd name="connsiteY10" fmla="*/ 309321 h 381747"/>
                <a:gd name="connsiteX11" fmla="*/ 429905 w 470449"/>
                <a:gd name="connsiteY11" fmla="*/ 86456 h 381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0449" h="381747">
                  <a:moveTo>
                    <a:pt x="469046" y="53244"/>
                  </a:moveTo>
                  <a:lnTo>
                    <a:pt x="424987" y="62689"/>
                  </a:lnTo>
                  <a:lnTo>
                    <a:pt x="467904" y="25816"/>
                  </a:lnTo>
                  <a:lnTo>
                    <a:pt x="406552" y="38071"/>
                  </a:lnTo>
                  <a:cubicBezTo>
                    <a:pt x="334408" y="-49214"/>
                    <a:pt x="188724" y="21752"/>
                    <a:pt x="212800" y="132327"/>
                  </a:cubicBezTo>
                  <a:cubicBezTo>
                    <a:pt x="184557" y="112062"/>
                    <a:pt x="135564" y="105523"/>
                    <a:pt x="100011" y="89212"/>
                  </a:cubicBezTo>
                  <a:cubicBezTo>
                    <a:pt x="51452" y="66931"/>
                    <a:pt x="56525" y="42681"/>
                    <a:pt x="53757" y="54213"/>
                  </a:cubicBezTo>
                  <a:cubicBezTo>
                    <a:pt x="32599" y="142910"/>
                    <a:pt x="109147" y="207464"/>
                    <a:pt x="129713" y="208606"/>
                  </a:cubicBezTo>
                  <a:cubicBezTo>
                    <a:pt x="110290" y="211461"/>
                    <a:pt x="72587" y="198328"/>
                    <a:pt x="72587" y="198328"/>
                  </a:cubicBezTo>
                  <a:cubicBezTo>
                    <a:pt x="72587" y="198328"/>
                    <a:pt x="72587" y="246882"/>
                    <a:pt x="160454" y="288622"/>
                  </a:cubicBezTo>
                  <a:cubicBezTo>
                    <a:pt x="110278" y="312116"/>
                    <a:pt x="53085" y="319323"/>
                    <a:pt x="-1403" y="309321"/>
                  </a:cubicBezTo>
                  <a:cubicBezTo>
                    <a:pt x="171519" y="478623"/>
                    <a:pt x="467410" y="323763"/>
                    <a:pt x="429905" y="86456"/>
                  </a:cubicBezTo>
                  <a:close/>
                </a:path>
              </a:pathLst>
            </a:custGeom>
            <a:noFill/>
            <a:ln w="1143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 sz="449"/>
            </a:p>
          </p:txBody>
        </p:sp>
      </p:grpSp>
      <p:pic>
        <p:nvPicPr>
          <p:cNvPr id="69" name="Picture 68">
            <a:extLst>
              <a:ext uri="{FF2B5EF4-FFF2-40B4-BE49-F238E27FC236}">
                <a16:creationId xmlns:a16="http://schemas.microsoft.com/office/drawing/2014/main" id="{8E5D18BD-FD77-6563-9EDF-DE3BA6447C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205" y="14041105"/>
            <a:ext cx="1440000" cy="699888"/>
          </a:xfrm>
          <a:prstGeom prst="rect">
            <a:avLst/>
          </a:prstGeom>
          <a:solidFill>
            <a:srgbClr val="FF0000"/>
          </a:solidFill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B2EE1D8-541E-50B0-C7F9-459534C64F88}"/>
              </a:ext>
            </a:extLst>
          </p:cNvPr>
          <p:cNvCxnSpPr>
            <a:cxnSpLocks/>
          </p:cNvCxnSpPr>
          <p:nvPr/>
        </p:nvCxnSpPr>
        <p:spPr>
          <a:xfrm>
            <a:off x="374206" y="6319154"/>
            <a:ext cx="10045168" cy="0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solid"/>
            <a:miter lim="800000"/>
            <a:headEnd type="none" w="lg" len="med"/>
            <a:tailEnd type="none" w="lg" len="med"/>
          </a:ln>
          <a:effectLst/>
        </p:spPr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94E4413E-B951-EC89-4A19-E678D24B907C}"/>
              </a:ext>
            </a:extLst>
          </p:cNvPr>
          <p:cNvCxnSpPr>
            <a:cxnSpLocks/>
          </p:cNvCxnSpPr>
          <p:nvPr/>
        </p:nvCxnSpPr>
        <p:spPr>
          <a:xfrm>
            <a:off x="374205" y="7343436"/>
            <a:ext cx="10045169" cy="0"/>
          </a:xfrm>
          <a:prstGeom prst="line">
            <a:avLst/>
          </a:prstGeom>
          <a:noFill/>
          <a:ln w="88900" cap="flat" cmpd="sng" algn="ctr">
            <a:solidFill>
              <a:srgbClr val="000000"/>
            </a:solidFill>
            <a:prstDash val="solid"/>
            <a:miter lim="800000"/>
            <a:headEnd type="none" w="lg" len="med"/>
            <a:tailEnd type="none" w="lg" len="med"/>
          </a:ln>
          <a:effectLst/>
        </p:spPr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695A8142-605E-BC2E-5A93-8F38FBB45341}"/>
              </a:ext>
            </a:extLst>
          </p:cNvPr>
          <p:cNvSpPr txBox="1"/>
          <p:nvPr/>
        </p:nvSpPr>
        <p:spPr>
          <a:xfrm>
            <a:off x="539893" y="6515100"/>
            <a:ext cx="96872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Autonomous vision-radar fusion system for reliable night-time human detection.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DF97F0-D810-16DD-A0D8-E3FF409E8C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6954" y="2110142"/>
            <a:ext cx="6202420" cy="348886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E77741E-4A65-AD59-C18F-F3020F8C1D17}"/>
              </a:ext>
            </a:extLst>
          </p:cNvPr>
          <p:cNvSpPr txBox="1"/>
          <p:nvPr/>
        </p:nvSpPr>
        <p:spPr>
          <a:xfrm>
            <a:off x="539892" y="7499683"/>
            <a:ext cx="40194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PROTOTYPE 1 – Radar-Based Detection System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E586E8-53E0-5B62-1BE2-453F9FEA7EED}"/>
              </a:ext>
            </a:extLst>
          </p:cNvPr>
          <p:cNvSpPr txBox="1"/>
          <p:nvPr/>
        </p:nvSpPr>
        <p:spPr>
          <a:xfrm rot="10800000" flipH="1" flipV="1">
            <a:off x="539892" y="10134519"/>
            <a:ext cx="51878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400" dirty="0"/>
              <a:t>PROTOTYPE 2 – Radar + YOLOv8 Vision Fusion System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AFF173C5-F9BD-0BEE-72D3-4A0459B20E1B}"/>
              </a:ext>
            </a:extLst>
          </p:cNvPr>
          <p:cNvSpPr txBox="1"/>
          <p:nvPr/>
        </p:nvSpPr>
        <p:spPr>
          <a:xfrm>
            <a:off x="164755" y="7855606"/>
            <a:ext cx="55215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/>
              <a:t>Objective:</a:t>
            </a:r>
          </a:p>
          <a:p>
            <a:pPr>
              <a:buNone/>
            </a:pPr>
            <a:r>
              <a:rPr lang="en-IN" sz="1200" dirty="0"/>
              <a:t>Develop a lightweight, energy-efficient system using radar-only sensing.</a:t>
            </a:r>
          </a:p>
          <a:p>
            <a:pPr>
              <a:buNone/>
            </a:pPr>
            <a:r>
              <a:rPr lang="en-IN" sz="1200" b="1" dirty="0"/>
              <a:t>Working Principle: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UGV patrols continuously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Radar detects motion and distance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Human presence estimated from radar reflection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Alert triggered without camera processing</a:t>
            </a:r>
          </a:p>
          <a:p>
            <a:pPr>
              <a:buNone/>
            </a:pPr>
            <a:r>
              <a:rPr lang="en-IN" sz="1200" b="1" dirty="0"/>
              <a:t>Advantages:</a:t>
            </a:r>
          </a:p>
          <a:p>
            <a:r>
              <a:rPr lang="en-IN" sz="1200" dirty="0"/>
              <a:t> Low power consumption</a:t>
            </a:r>
            <a:br>
              <a:rPr lang="en-IN" sz="1200" dirty="0"/>
            </a:br>
            <a:r>
              <a:rPr lang="en-IN" sz="1200" dirty="0"/>
              <a:t> Fast response time</a:t>
            </a:r>
            <a:br>
              <a:rPr lang="en-IN" sz="1200" dirty="0"/>
            </a:br>
            <a:r>
              <a:rPr lang="en-IN" sz="1200" dirty="0"/>
              <a:t> Suitable for continuous monitoring</a:t>
            </a:r>
            <a:br>
              <a:rPr lang="en-IN" sz="1200" dirty="0"/>
            </a:br>
            <a:r>
              <a:rPr lang="en-IN" sz="1200" dirty="0"/>
              <a:t> Minimal processing requirement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02767E7-B2C8-1967-89C2-ABEF89430264}"/>
              </a:ext>
            </a:extLst>
          </p:cNvPr>
          <p:cNvSpPr txBox="1"/>
          <p:nvPr/>
        </p:nvSpPr>
        <p:spPr>
          <a:xfrm>
            <a:off x="164755" y="10442645"/>
            <a:ext cx="5357485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/>
              <a:t>Objective:</a:t>
            </a:r>
          </a:p>
          <a:p>
            <a:pPr>
              <a:buNone/>
            </a:pPr>
            <a:r>
              <a:rPr lang="en-IN" sz="1200" dirty="0"/>
              <a:t>Improve detection accuracy using sensor fusion.</a:t>
            </a:r>
          </a:p>
          <a:p>
            <a:pPr>
              <a:buNone/>
            </a:pPr>
            <a:r>
              <a:rPr lang="en-IN" sz="1200" b="1" dirty="0"/>
              <a:t>Working Principle: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Radar detects motion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Camera activates only when radar confirms presence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YOLOv8 performs human classification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Sensor fusion algorithm increases confidence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Reduced false positives</a:t>
            </a:r>
          </a:p>
          <a:p>
            <a:pPr>
              <a:buNone/>
            </a:pPr>
            <a:r>
              <a:rPr lang="en-IN" sz="1200" b="1" dirty="0"/>
              <a:t>Advantages:</a:t>
            </a:r>
          </a:p>
          <a:p>
            <a:pPr>
              <a:buNone/>
            </a:pPr>
            <a:r>
              <a:rPr lang="en-IN" sz="1200" dirty="0"/>
              <a:t> Higher detection accuracy</a:t>
            </a:r>
            <a:br>
              <a:rPr lang="en-IN" sz="1200" dirty="0"/>
            </a:br>
            <a:r>
              <a:rPr lang="en-IN" sz="1200" dirty="0"/>
              <a:t> Reduced unnecessary camera usage</a:t>
            </a:r>
            <a:br>
              <a:rPr lang="en-IN" sz="1200" dirty="0"/>
            </a:br>
            <a:r>
              <a:rPr lang="en-IN" sz="1200" dirty="0"/>
              <a:t> Balanced power consumption</a:t>
            </a:r>
            <a:br>
              <a:rPr lang="en-IN" sz="1200" dirty="0"/>
            </a:br>
            <a:r>
              <a:rPr lang="en-IN" sz="1200" dirty="0"/>
              <a:t> Intelligent target verification</a:t>
            </a:r>
          </a:p>
        </p:txBody>
      </p:sp>
    </p:spTree>
    <p:extLst>
      <p:ext uri="{BB962C8B-B14F-4D97-AF65-F5344CB8AC3E}">
        <p14:creationId xmlns:p14="http://schemas.microsoft.com/office/powerpoint/2010/main" val="2929268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5231</TotalTime>
  <Words>398</Words>
  <Application>Microsoft Office PowerPoint</Application>
  <PresentationFormat>Custom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Franklin Gothic Medium</vt:lpstr>
      <vt:lpstr>Montserrat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Wyn Griffiths</dc:creator>
  <cp:lastModifiedBy>Harsh Patel</cp:lastModifiedBy>
  <cp:revision>10</cp:revision>
  <dcterms:created xsi:type="dcterms:W3CDTF">2026-02-17T13:41:41Z</dcterms:created>
  <dcterms:modified xsi:type="dcterms:W3CDTF">2026-03-05T11:40:40Z</dcterms:modified>
</cp:coreProperties>
</file>